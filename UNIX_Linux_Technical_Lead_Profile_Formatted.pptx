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2834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Jaya Narasimha</a:t>
            </a:r>
            <a:br/>
            <a:r>
              <a:t>Reddy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148840"/>
            <a:ext cx="2834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7DDCDC"/>
                </a:solidFill>
                <a:latin typeface="Aptos"/>
              </a:defRPr>
            </a:pPr>
            <a:r>
              <a:t>SENIOR TECHNICAL 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743200"/>
            <a:ext cx="27889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UNIX • Linux • AIX • VMware</a:t>
            </a:r>
          </a:p>
          <a:p>
            <a:pPr>
              <a:defRPr sz="1300">
                <a:solidFill>
                  <a:srgbClr val="DCE5EF"/>
                </a:solidFill>
                <a:latin typeface="Aptos"/>
              </a:defRPr>
            </a:pPr>
            <a:r>
              <a:t>Infrastructure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4160520"/>
            <a:ext cx="1325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B7CD"/>
                </a:solidFill>
                <a:latin typeface="Aptos"/>
              </a:defRPr>
            </a:pPr>
            <a:r>
              <a:t>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436168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Aptos"/>
              </a:defRPr>
            </a:pPr>
            <a:r>
              <a:t>12+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4727448"/>
            <a:ext cx="1325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B7CD"/>
                </a:solidFill>
                <a:latin typeface="Aptos"/>
              </a:defRPr>
            </a:pPr>
            <a:r>
              <a:t>QUALIFICATION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492861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Aptos"/>
              </a:defRPr>
            </a:pPr>
            <a:r>
              <a:t>M.C.A.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5294376"/>
            <a:ext cx="1325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B7CD"/>
                </a:solidFill>
                <a:latin typeface="Aptos"/>
              </a:defRPr>
            </a:pPr>
            <a:r>
              <a:t>PRIMARY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549554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Aptos"/>
              </a:defRPr>
            </a:pPr>
            <a:r>
              <a:t>Linux / AIX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5861304"/>
            <a:ext cx="1325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B7CD"/>
                </a:solidFill>
                <a:latin typeface="Aptos"/>
              </a:defRPr>
            </a:pPr>
            <a:r>
              <a:t>SECONDARY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06247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Aptos"/>
              </a:defRPr>
            </a:pPr>
            <a:r>
              <a:t>VMware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822960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D4E"/>
                </a:solidFill>
                <a:latin typeface="Aptos Display"/>
              </a:defRPr>
            </a:pPr>
            <a:r>
              <a:t>Professional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1600200"/>
            <a:ext cx="7040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t>Senior Technical Lead with 12+ years of experience in Linux and AIX administration, enterprise infrastructure operations, incident and change management, troubleshooting, OS upgrades, storage, clustering, and virtualization support.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154680"/>
            <a:ext cx="315468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300984"/>
            <a:ext cx="2788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8B96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593592"/>
            <a:ext cx="2788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303D"/>
                </a:solidFill>
                <a:latin typeface="Aptos"/>
              </a:defRPr>
            </a:pPr>
            <a:r>
              <a:t>Incident, request and change management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3154680"/>
            <a:ext cx="315468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3300984"/>
            <a:ext cx="2788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8B96"/>
                </a:solidFill>
                <a:latin typeface="Aptos"/>
              </a:defRPr>
            </a:pPr>
            <a:r>
              <a:t>PLATFORMS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593592"/>
            <a:ext cx="2788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303D"/>
                </a:solidFill>
                <a:latin typeface="Aptos"/>
              </a:defRPr>
            </a:pPr>
            <a:r>
              <a:t>RHEL, UNIX / AIX and VMware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572000"/>
            <a:ext cx="315468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718304"/>
            <a:ext cx="2788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8B96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010912"/>
            <a:ext cx="2788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303D"/>
                </a:solidFill>
                <a:latin typeface="Aptos"/>
              </a:defRPr>
            </a:pPr>
            <a:r>
              <a:t>LVM, SAN, NFS, iSCSI and MPIO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9560" y="4572000"/>
            <a:ext cx="315468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4718304"/>
            <a:ext cx="2788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8B96"/>
                </a:solidFill>
                <a:latin typeface="Aptos"/>
              </a:defRPr>
            </a:pPr>
            <a:r>
              <a:t>LEADERSHIP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5010912"/>
            <a:ext cx="2788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303D"/>
                </a:solidFill>
                <a:latin typeface="Aptos"/>
              </a:defRPr>
            </a:pPr>
            <a:r>
              <a:t>Escalations, mentoring and process improvement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D4E"/>
                </a:solidFill>
                <a:latin typeface="Aptos Display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6578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D4E"/>
                </a:solidFill>
                <a:latin typeface="Aptos Display"/>
              </a:defRPr>
            </a:pPr>
            <a:r>
              <a:t>Linux &amp; AIX | Technical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578"/>
                </a:solidFill>
                <a:latin typeface="Aptos"/>
              </a:defRPr>
            </a:pPr>
            <a:r>
              <a:t>Infrastructure operations, engineering, service management and lifecycle activities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657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532120" cy="2697480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27048"/>
            <a:ext cx="5129783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668A5"/>
                </a:solidFill>
                <a:latin typeface="Aptos Display"/>
              </a:defRPr>
            </a:pPr>
            <a:r>
              <a:t>Technical Responsibilities</a:t>
            </a:r>
          </a:p>
          <a:p>
            <a:pPr>
              <a:spcAft>
                <a:spcPts val="300"/>
              </a:spcAft>
              <a:defRPr sz="1200">
                <a:solidFill>
                  <a:srgbClr val="26303D"/>
                </a:solidFill>
                <a:latin typeface="Aptos"/>
              </a:defRPr>
            </a:pPr>
            <a:r>
              <a:t>•  Administer users, processes, CPU and memory; troubleshoot OS and application-level infrastructure issues.</a:t>
            </a:r>
          </a:p>
          <a:p>
            <a:pPr>
              <a:spcAft>
                <a:spcPts val="300"/>
              </a:spcAft>
              <a:defRPr sz="1200">
                <a:solidFill>
                  <a:srgbClr val="26303D"/>
                </a:solidFill>
                <a:latin typeface="Aptos"/>
              </a:defRPr>
            </a:pPr>
            <a:r>
              <a:t>•  Manage Linux filesystems, NFS mounts, advanced LVM, ASM disks, SAN/iSCSI volumes and MPIO.</a:t>
            </a:r>
          </a:p>
          <a:p>
            <a:pPr>
              <a:spcAft>
                <a:spcPts val="300"/>
              </a:spcAft>
              <a:defRPr sz="1200">
                <a:solidFill>
                  <a:srgbClr val="26303D"/>
                </a:solidFill>
                <a:latin typeface="Aptos"/>
              </a:defRPr>
            </a:pPr>
            <a:r>
              <a:t>•  Perform OS routine maintenance, reboots, RPM installations, minor updates and in-place OS upgrades.</a:t>
            </a:r>
          </a:p>
          <a:p>
            <a:pPr>
              <a:spcAft>
                <a:spcPts val="300"/>
              </a:spcAft>
              <a:defRPr sz="1200">
                <a:solidFill>
                  <a:srgbClr val="26303D"/>
                </a:solidFill>
                <a:latin typeface="Aptos"/>
              </a:defRPr>
            </a:pPr>
            <a:r>
              <a:t>•  Manage AIX backup, recovery, restoration and upgrades using NIM; support mksysb and OS image backups.</a:t>
            </a:r>
          </a:p>
          <a:p>
            <a:pPr>
              <a:spcAft>
                <a:spcPts val="300"/>
              </a:spcAft>
              <a:defRPr sz="1200">
                <a:solidFill>
                  <a:srgbClr val="26303D"/>
                </a:solidFill>
                <a:latin typeface="Aptos"/>
              </a:defRPr>
            </a:pPr>
            <a:r>
              <a:t>•  Support Pacemaker clusters, DR activities, VMware Tools upgrades and Linux/AIX storage migrations.</a:t>
            </a:r>
          </a:p>
          <a:p>
            <a:pPr>
              <a:spcAft>
                <a:spcPts val="300"/>
              </a:spcAft>
              <a:defRPr sz="1200">
                <a:solidFill>
                  <a:srgbClr val="26303D"/>
                </a:solidFill>
                <a:latin typeface="Aptos"/>
              </a:defRPr>
            </a:pPr>
            <a:r>
              <a:t>•  Manage capacity changes, including CPU, memory and adapter add/remove operations using DLPAR; support LPAR migration (LPM).</a:t>
            </a:r>
          </a:p>
          <a:p>
            <a:pPr>
              <a:spcAft>
                <a:spcPts val="300"/>
              </a:spcAft>
              <a:defRPr sz="1200">
                <a:solidFill>
                  <a:srgbClr val="26303D"/>
                </a:solidFill>
                <a:latin typeface="Aptos"/>
              </a:defRPr>
            </a:pPr>
            <a:r>
              <a:t>•  Configure SNMP traps for hardware monitoring and standardize disk, memory and vCPU sizing for UNIX VMs.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417320"/>
            <a:ext cx="5440680" cy="3319272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527048"/>
            <a:ext cx="5038344" cy="31363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668A5"/>
                </a:solidFill>
                <a:latin typeface="Aptos Display"/>
              </a:defRPr>
            </a:pPr>
            <a:r>
              <a:t>Operations &amp; Service Management</a:t>
            </a:r>
          </a:p>
          <a:p>
            <a:pPr>
              <a:spcAft>
                <a:spcPts val="300"/>
              </a:spcAft>
              <a:defRPr sz="1100">
                <a:solidFill>
                  <a:srgbClr val="26303D"/>
                </a:solidFill>
                <a:latin typeface="Aptos"/>
              </a:defRPr>
            </a:pPr>
            <a:r>
              <a:t>•  Monitor ServiceNow queues and auto-generated health-check tickets; assign work and route dependencies to the appropriate teams.</a:t>
            </a:r>
          </a:p>
          <a:p>
            <a:pPr>
              <a:spcAft>
                <a:spcPts val="300"/>
              </a:spcAft>
              <a:defRPr sz="1100">
                <a:solidFill>
                  <a:srgbClr val="26303D"/>
                </a:solidFill>
                <a:latin typeface="Aptos"/>
              </a:defRPr>
            </a:pPr>
            <a:r>
              <a:t>•  Resolve incidents, RITMs and change requests; support P1/P2 incidents, P3/P4 tickets and escalation calls.</a:t>
            </a:r>
          </a:p>
          <a:p>
            <a:pPr>
              <a:spcAft>
                <a:spcPts val="300"/>
              </a:spcAft>
              <a:defRPr sz="1100">
                <a:solidFill>
                  <a:srgbClr val="26303D"/>
                </a:solidFill>
                <a:latin typeface="Aptos"/>
              </a:defRPr>
            </a:pPr>
            <a:r>
              <a:t>•  Maintain incident chronology, resolution notes, process reports, follow-up communications and shift handovers.</a:t>
            </a:r>
          </a:p>
          <a:p>
            <a:pPr>
              <a:spcAft>
                <a:spcPts val="300"/>
              </a:spcAft>
              <a:defRPr sz="1100">
                <a:solidFill>
                  <a:srgbClr val="26303D"/>
                </a:solidFill>
                <a:latin typeface="Aptos"/>
              </a:defRPr>
            </a:pPr>
            <a:r>
              <a:t>•  Review changes and CTASKs, support transition checklists, participate in CAB calls and implement critical changes.</a:t>
            </a:r>
          </a:p>
          <a:p>
            <a:pPr>
              <a:spcAft>
                <a:spcPts val="300"/>
              </a:spcAft>
              <a:defRPr sz="1100">
                <a:solidFill>
                  <a:srgbClr val="26303D"/>
                </a:solidFill>
                <a:latin typeface="Aptos"/>
              </a:defRPr>
            </a:pPr>
            <a:r>
              <a:t>•  Coordinate with application teams, infrastructure teams, SMEs and OEM vendors for troubleshooting and feasibility assessments.</a:t>
            </a:r>
          </a:p>
          <a:p>
            <a:pPr>
              <a:spcAft>
                <a:spcPts val="300"/>
              </a:spcAft>
              <a:defRPr sz="1100">
                <a:solidFill>
                  <a:srgbClr val="26303D"/>
                </a:solidFill>
                <a:latin typeface="Aptos"/>
              </a:defRPr>
            </a:pPr>
            <a:r>
              <a:t>•  Manage backup-failure cases, recurring issues, corrective/preventive actions and SLA adherence.</a:t>
            </a:r>
          </a:p>
          <a:p>
            <a:pPr>
              <a:spcAft>
                <a:spcPts val="300"/>
              </a:spcAft>
              <a:defRPr sz="1100">
                <a:solidFill>
                  <a:srgbClr val="26303D"/>
                </a:solidFill>
                <a:latin typeface="Aptos"/>
              </a:defRPr>
            </a:pPr>
            <a:r>
              <a:t>•  Support hardware transitions, firmware upgrades for Cisco/HPE/Dell servers, blade relocation, server retirement and disposal.</a:t>
            </a:r>
          </a:p>
          <a:p>
            <a:pPr>
              <a:spcAft>
                <a:spcPts val="300"/>
              </a:spcAft>
              <a:defRPr sz="1100">
                <a:solidFill>
                  <a:srgbClr val="26303D"/>
                </a:solidFill>
                <a:latin typeface="Aptos"/>
              </a:defRPr>
            </a:pPr>
            <a:r>
              <a:t>•  Open Red Hat support cases, generate SOS reports, coordinate vulnerability remediation and follow up on aged vendor cases.</a:t>
            </a:r>
          </a:p>
          <a:p>
            <a:pPr>
              <a:spcAft>
                <a:spcPts val="300"/>
              </a:spcAft>
              <a:defRPr sz="1100">
                <a:solidFill>
                  <a:srgbClr val="26303D"/>
                </a:solidFill>
                <a:latin typeface="Aptos"/>
              </a:defRPr>
            </a:pPr>
            <a:r>
              <a:t>•  Mentor L1/L2 engineers and support standard change templates, POAs, SOPs and work instructions.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D4E"/>
                </a:solidFill>
                <a:latin typeface="Aptos Display"/>
              </a:defRPr>
            </a:pPr>
            <a:r>
              <a:t>VMware | Virtualization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6578"/>
                </a:solidFill>
                <a:latin typeface="Aptos"/>
              </a:defRPr>
            </a:pPr>
            <a:r>
              <a:t>Virtual machine provisioning, compute and storage lifecycle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657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6766560" cy="3630168"/>
          </a:xfrm>
          <a:prstGeom prst="roundRect">
            <a:avLst/>
          </a:prstGeom>
          <a:solidFill>
            <a:srgbClr val="F2F6FA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27048"/>
            <a:ext cx="6364224" cy="3447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668A5"/>
                </a:solidFill>
                <a:latin typeface="Aptos Display"/>
              </a:defRPr>
            </a:pPr>
            <a:r>
              <a:t>Core VMware Activities</a:t>
            </a:r>
          </a:p>
          <a:p>
            <a:pPr>
              <a:spcAft>
                <a:spcPts val="3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 Create virtual machines in vCenter and build new RHEL templates.</a:t>
            </a:r>
          </a:p>
          <a:p>
            <a:pPr>
              <a:spcAft>
                <a:spcPts val="3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 Clone and deploy virtual machines from approved templates.</a:t>
            </a:r>
          </a:p>
          <a:p>
            <a:pPr>
              <a:spcAft>
                <a:spcPts val="3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 Increase or decrease virtual CPU and memory according to client requirements.</a:t>
            </a:r>
          </a:p>
          <a:p>
            <a:pPr>
              <a:spcAft>
                <a:spcPts val="3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 Perform virtual machine power-on, power-off and restart activities.</a:t>
            </a:r>
          </a:p>
          <a:p>
            <a:pPr>
              <a:spcAft>
                <a:spcPts val="3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 Add virtual disks from vCenter datastores to client partitions.</a:t>
            </a:r>
          </a:p>
          <a:p>
            <a:pPr>
              <a:spcAft>
                <a:spcPts val="3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 Migrate virtual machines between ESXi hosts using vMotion (host-level live migration).</a:t>
            </a:r>
          </a:p>
          <a:p>
            <a:pPr>
              <a:spcAft>
                <a:spcPts val="3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 Migrate virtual machines between datastores (storage migration).</a:t>
            </a:r>
          </a:p>
          <a:p>
            <a:pPr>
              <a:spcAft>
                <a:spcPts val="3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 Create and manage VM snapshots; perform disk consolidation when required.</a:t>
            </a:r>
          </a:p>
          <a:p>
            <a:pPr>
              <a:spcAft>
                <a:spcPts val="3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 Create datastores based on NFS volumes mapped to ESXi hosts.</a:t>
            </a:r>
          </a:p>
          <a:p>
            <a:pPr>
              <a:spcAft>
                <a:spcPts val="300"/>
              </a:spcAft>
              <a:defRPr sz="1400">
                <a:solidFill>
                  <a:srgbClr val="26303D"/>
                </a:solidFill>
                <a:latin typeface="Aptos"/>
              </a:defRPr>
            </a:pPr>
            <a:r>
              <a:t>•  Upload files and ISO images to datastores.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417320"/>
            <a:ext cx="3840480" cy="4480560"/>
          </a:xfrm>
          <a:prstGeom prst="round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73736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Core 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331720"/>
            <a:ext cx="3154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Linux / RHEL administration</a:t>
            </a:r>
          </a:p>
          <a:p>
            <a:pPr>
              <a:spcAft>
                <a:spcPts val="11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AIX / NIM administration</a:t>
            </a:r>
          </a:p>
          <a:p>
            <a:pPr>
              <a:spcAft>
                <a:spcPts val="11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Incident and change leadership</a:t>
            </a:r>
          </a:p>
          <a:p>
            <a:pPr>
              <a:spcAft>
                <a:spcPts val="11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Storage and filesystem management</a:t>
            </a:r>
          </a:p>
          <a:p>
            <a:pPr>
              <a:spcAft>
                <a:spcPts val="11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Cluster and DR support</a:t>
            </a:r>
          </a:p>
          <a:p>
            <a:pPr>
              <a:spcAft>
                <a:spcPts val="11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Virtualization operations</a:t>
            </a:r>
          </a:p>
          <a:p>
            <a:pPr>
              <a:spcAft>
                <a:spcPts val="11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Vendor and stakeholder coordination</a:t>
            </a:r>
          </a:p>
          <a:p>
            <a:pPr>
              <a:spcAft>
                <a:spcPts val="11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Team mentoring and documentation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56578"/>
                </a:solidFill>
                <a:latin typeface="Aptos"/>
              </a:defRPr>
            </a:pPr>
            <a:r>
              <a:t>Professional profile formatted from the information provided in the original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